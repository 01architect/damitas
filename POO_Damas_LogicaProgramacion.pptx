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960120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3" name="Shape 1"/>
          <p:cNvSpPr/>
          <p:nvPr/>
        </p:nvSpPr>
        <p:spPr>
          <a:xfrm>
            <a:off x="8348472" y="960120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4" name="Shape 2"/>
          <p:cNvSpPr/>
          <p:nvPr/>
        </p:nvSpPr>
        <p:spPr>
          <a:xfrm>
            <a:off x="8878824" y="960120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5" name="Shape 3"/>
          <p:cNvSpPr/>
          <p:nvPr/>
        </p:nvSpPr>
        <p:spPr>
          <a:xfrm>
            <a:off x="9409176" y="960120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6" name="Shape 4"/>
          <p:cNvSpPr/>
          <p:nvPr/>
        </p:nvSpPr>
        <p:spPr>
          <a:xfrm>
            <a:off x="9939528" y="960120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7" name="Shape 5"/>
          <p:cNvSpPr/>
          <p:nvPr/>
        </p:nvSpPr>
        <p:spPr>
          <a:xfrm>
            <a:off x="10469880" y="960120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8" name="Shape 6"/>
          <p:cNvSpPr/>
          <p:nvPr/>
        </p:nvSpPr>
        <p:spPr>
          <a:xfrm>
            <a:off x="11000232" y="960120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9" name="Shape 7"/>
          <p:cNvSpPr/>
          <p:nvPr/>
        </p:nvSpPr>
        <p:spPr>
          <a:xfrm>
            <a:off x="11530584" y="960120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10" name="Shape 8"/>
          <p:cNvSpPr/>
          <p:nvPr/>
        </p:nvSpPr>
        <p:spPr>
          <a:xfrm>
            <a:off x="7818120" y="1490472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11" name="Shape 9"/>
          <p:cNvSpPr/>
          <p:nvPr/>
        </p:nvSpPr>
        <p:spPr>
          <a:xfrm>
            <a:off x="8348472" y="1490472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12" name="Shape 10"/>
          <p:cNvSpPr/>
          <p:nvPr/>
        </p:nvSpPr>
        <p:spPr>
          <a:xfrm>
            <a:off x="8878824" y="1490472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13" name="Shape 11"/>
          <p:cNvSpPr/>
          <p:nvPr/>
        </p:nvSpPr>
        <p:spPr>
          <a:xfrm>
            <a:off x="9409176" y="1490472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14" name="Shape 12"/>
          <p:cNvSpPr/>
          <p:nvPr/>
        </p:nvSpPr>
        <p:spPr>
          <a:xfrm>
            <a:off x="9939528" y="1490472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69880" y="1490472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00232" y="1490472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30584" y="1490472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18" name="Shape 16"/>
          <p:cNvSpPr/>
          <p:nvPr/>
        </p:nvSpPr>
        <p:spPr>
          <a:xfrm>
            <a:off x="7818120" y="2020824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19" name="Shape 17"/>
          <p:cNvSpPr/>
          <p:nvPr/>
        </p:nvSpPr>
        <p:spPr>
          <a:xfrm>
            <a:off x="8348472" y="2020824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20" name="Shape 18"/>
          <p:cNvSpPr/>
          <p:nvPr/>
        </p:nvSpPr>
        <p:spPr>
          <a:xfrm>
            <a:off x="8878824" y="2020824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21" name="Shape 19"/>
          <p:cNvSpPr/>
          <p:nvPr/>
        </p:nvSpPr>
        <p:spPr>
          <a:xfrm>
            <a:off x="9409176" y="2020824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22" name="Shape 20"/>
          <p:cNvSpPr/>
          <p:nvPr/>
        </p:nvSpPr>
        <p:spPr>
          <a:xfrm>
            <a:off x="9939528" y="2020824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69880" y="2020824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00232" y="2020824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25" name="Shape 23"/>
          <p:cNvSpPr/>
          <p:nvPr/>
        </p:nvSpPr>
        <p:spPr>
          <a:xfrm>
            <a:off x="11530584" y="2020824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26" name="Shape 24"/>
          <p:cNvSpPr/>
          <p:nvPr/>
        </p:nvSpPr>
        <p:spPr>
          <a:xfrm>
            <a:off x="7818120" y="2551176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27" name="Shape 25"/>
          <p:cNvSpPr/>
          <p:nvPr/>
        </p:nvSpPr>
        <p:spPr>
          <a:xfrm>
            <a:off x="8348472" y="2551176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28" name="Shape 26"/>
          <p:cNvSpPr/>
          <p:nvPr/>
        </p:nvSpPr>
        <p:spPr>
          <a:xfrm>
            <a:off x="8878824" y="2551176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29" name="Shape 27"/>
          <p:cNvSpPr/>
          <p:nvPr/>
        </p:nvSpPr>
        <p:spPr>
          <a:xfrm>
            <a:off x="9409176" y="2551176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30" name="Shape 28"/>
          <p:cNvSpPr/>
          <p:nvPr/>
        </p:nvSpPr>
        <p:spPr>
          <a:xfrm>
            <a:off x="9939528" y="2551176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69880" y="2551176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00232" y="2551176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33" name="Shape 31"/>
          <p:cNvSpPr/>
          <p:nvPr/>
        </p:nvSpPr>
        <p:spPr>
          <a:xfrm>
            <a:off x="11530584" y="2551176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34" name="Shape 32"/>
          <p:cNvSpPr/>
          <p:nvPr/>
        </p:nvSpPr>
        <p:spPr>
          <a:xfrm>
            <a:off x="7818120" y="3081528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35" name="Shape 33"/>
          <p:cNvSpPr/>
          <p:nvPr/>
        </p:nvSpPr>
        <p:spPr>
          <a:xfrm>
            <a:off x="8348472" y="3081528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36" name="Shape 34"/>
          <p:cNvSpPr/>
          <p:nvPr/>
        </p:nvSpPr>
        <p:spPr>
          <a:xfrm>
            <a:off x="8878824" y="3081528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37" name="Shape 35"/>
          <p:cNvSpPr/>
          <p:nvPr/>
        </p:nvSpPr>
        <p:spPr>
          <a:xfrm>
            <a:off x="9409176" y="3081528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38" name="Shape 36"/>
          <p:cNvSpPr/>
          <p:nvPr/>
        </p:nvSpPr>
        <p:spPr>
          <a:xfrm>
            <a:off x="9939528" y="3081528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69880" y="3081528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40" name="Shape 38"/>
          <p:cNvSpPr/>
          <p:nvPr/>
        </p:nvSpPr>
        <p:spPr>
          <a:xfrm>
            <a:off x="11000232" y="3081528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41" name="Shape 39"/>
          <p:cNvSpPr/>
          <p:nvPr/>
        </p:nvSpPr>
        <p:spPr>
          <a:xfrm>
            <a:off x="11530584" y="3081528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42" name="Shape 40"/>
          <p:cNvSpPr/>
          <p:nvPr/>
        </p:nvSpPr>
        <p:spPr>
          <a:xfrm>
            <a:off x="7818120" y="3611880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43" name="Shape 41"/>
          <p:cNvSpPr/>
          <p:nvPr/>
        </p:nvSpPr>
        <p:spPr>
          <a:xfrm>
            <a:off x="8348472" y="3611880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44" name="Shape 42"/>
          <p:cNvSpPr/>
          <p:nvPr/>
        </p:nvSpPr>
        <p:spPr>
          <a:xfrm>
            <a:off x="8878824" y="3611880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45" name="Shape 43"/>
          <p:cNvSpPr/>
          <p:nvPr/>
        </p:nvSpPr>
        <p:spPr>
          <a:xfrm>
            <a:off x="9409176" y="3611880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46" name="Shape 44"/>
          <p:cNvSpPr/>
          <p:nvPr/>
        </p:nvSpPr>
        <p:spPr>
          <a:xfrm>
            <a:off x="9939528" y="3611880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47" name="Shape 45"/>
          <p:cNvSpPr/>
          <p:nvPr/>
        </p:nvSpPr>
        <p:spPr>
          <a:xfrm>
            <a:off x="10469880" y="3611880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48" name="Shape 46"/>
          <p:cNvSpPr/>
          <p:nvPr/>
        </p:nvSpPr>
        <p:spPr>
          <a:xfrm>
            <a:off x="11000232" y="3611880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49" name="Shape 47"/>
          <p:cNvSpPr/>
          <p:nvPr/>
        </p:nvSpPr>
        <p:spPr>
          <a:xfrm>
            <a:off x="11530584" y="3611880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4142232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51" name="Shape 49"/>
          <p:cNvSpPr/>
          <p:nvPr/>
        </p:nvSpPr>
        <p:spPr>
          <a:xfrm>
            <a:off x="8348472" y="4142232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52" name="Shape 50"/>
          <p:cNvSpPr/>
          <p:nvPr/>
        </p:nvSpPr>
        <p:spPr>
          <a:xfrm>
            <a:off x="8878824" y="4142232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53" name="Shape 51"/>
          <p:cNvSpPr/>
          <p:nvPr/>
        </p:nvSpPr>
        <p:spPr>
          <a:xfrm>
            <a:off x="9409176" y="4142232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54" name="Shape 52"/>
          <p:cNvSpPr/>
          <p:nvPr/>
        </p:nvSpPr>
        <p:spPr>
          <a:xfrm>
            <a:off x="9939528" y="4142232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55" name="Shape 53"/>
          <p:cNvSpPr/>
          <p:nvPr/>
        </p:nvSpPr>
        <p:spPr>
          <a:xfrm>
            <a:off x="10469880" y="4142232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56" name="Shape 54"/>
          <p:cNvSpPr/>
          <p:nvPr/>
        </p:nvSpPr>
        <p:spPr>
          <a:xfrm>
            <a:off x="11000232" y="4142232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30584" y="4142232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58" name="Shape 56"/>
          <p:cNvSpPr/>
          <p:nvPr/>
        </p:nvSpPr>
        <p:spPr>
          <a:xfrm>
            <a:off x="7818120" y="4672584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59" name="Shape 57"/>
          <p:cNvSpPr/>
          <p:nvPr/>
        </p:nvSpPr>
        <p:spPr>
          <a:xfrm>
            <a:off x="8348472" y="4672584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60" name="Shape 58"/>
          <p:cNvSpPr/>
          <p:nvPr/>
        </p:nvSpPr>
        <p:spPr>
          <a:xfrm>
            <a:off x="8878824" y="4672584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61" name="Shape 59"/>
          <p:cNvSpPr/>
          <p:nvPr/>
        </p:nvSpPr>
        <p:spPr>
          <a:xfrm>
            <a:off x="9409176" y="4672584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62" name="Shape 60"/>
          <p:cNvSpPr/>
          <p:nvPr/>
        </p:nvSpPr>
        <p:spPr>
          <a:xfrm>
            <a:off x="9939528" y="4672584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63" name="Shape 61"/>
          <p:cNvSpPr/>
          <p:nvPr/>
        </p:nvSpPr>
        <p:spPr>
          <a:xfrm>
            <a:off x="10469880" y="4672584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64" name="Shape 62"/>
          <p:cNvSpPr/>
          <p:nvPr/>
        </p:nvSpPr>
        <p:spPr>
          <a:xfrm>
            <a:off x="11000232" y="4672584"/>
            <a:ext cx="530352" cy="530352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65" name="Shape 63"/>
          <p:cNvSpPr/>
          <p:nvPr/>
        </p:nvSpPr>
        <p:spPr>
          <a:xfrm>
            <a:off x="11530584" y="4672584"/>
            <a:ext cx="530352" cy="530352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66" name="Shape 64"/>
          <p:cNvSpPr/>
          <p:nvPr/>
        </p:nvSpPr>
        <p:spPr>
          <a:xfrm>
            <a:off x="7902976" y="3696736"/>
            <a:ext cx="360639" cy="36063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63680" y="3696736"/>
            <a:ext cx="360639" cy="36063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433328" y="4227088"/>
            <a:ext cx="360639" cy="36063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33328" y="1575328"/>
            <a:ext cx="360639" cy="360639"/>
          </a:xfrm>
          <a:prstGeom prst="ellipse">
            <a:avLst/>
          </a:prstGeom>
          <a:solidFill>
            <a:srgbClr val="11111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63680" y="2105680"/>
            <a:ext cx="360639" cy="360639"/>
          </a:xfrm>
          <a:prstGeom prst="ellipse">
            <a:avLst/>
          </a:prstGeom>
          <a:solidFill>
            <a:srgbClr val="11111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963680" y="1044976"/>
            <a:ext cx="360639" cy="360639"/>
          </a:xfrm>
          <a:prstGeom prst="ellipse">
            <a:avLst/>
          </a:prstGeom>
          <a:solidFill>
            <a:srgbClr val="11111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494032" y="3166384"/>
            <a:ext cx="360639" cy="360639"/>
          </a:xfrm>
          <a:prstGeom prst="ellipse">
            <a:avLst/>
          </a:prstGeom>
          <a:solidFill>
            <a:srgbClr val="D4AF3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PROGRAMACIÓN I  ·  JORNADA NOCTURNA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640080" y="26974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Programación Orientada a Objetos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práctica</a:t>
            </a:r>
            <a:endParaRPr lang="en-US" sz="4000" dirty="0"/>
          </a:p>
        </p:txBody>
      </p:sp>
      <p:sp>
        <p:nvSpPr>
          <p:cNvPr id="75" name="Text 73"/>
          <p:cNvSpPr/>
          <p:nvPr/>
        </p:nvSpPr>
        <p:spPr>
          <a:xfrm>
            <a:off x="640080" y="4343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EE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construimos, paso a paso, un juego de Damas en Python</a:t>
            </a:r>
            <a:endParaRPr lang="en-US" sz="1700" dirty="0"/>
          </a:p>
        </p:txBody>
      </p:sp>
      <p:sp>
        <p:nvSpPr>
          <p:cNvPr id="76" name="Shape 74"/>
          <p:cNvSpPr/>
          <p:nvPr/>
        </p:nvSpPr>
        <p:spPr>
          <a:xfrm>
            <a:off x="640080" y="5166360"/>
            <a:ext cx="566928" cy="566928"/>
          </a:xfrm>
          <a:prstGeom prst="ellipse">
            <a:avLst/>
          </a:prstGeom>
          <a:solidFill>
            <a:srgbClr val="2A4A31"/>
          </a:solidFill>
          <a:ln/>
        </p:spPr>
      </p:sp>
      <p:pic>
        <p:nvPicPr>
          <p:cNvPr id="77" name="Image 0" descr="/tmp/damaspptx/icons/chessking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5223053"/>
            <a:ext cx="453542" cy="453542"/>
          </a:xfrm>
          <a:prstGeom prst="rect">
            <a:avLst/>
          </a:prstGeom>
        </p:spPr>
      </p:pic>
      <p:sp>
        <p:nvSpPr>
          <p:cNvPr id="78" name="Text 75"/>
          <p:cNvSpPr/>
          <p:nvPr/>
        </p:nvSpPr>
        <p:spPr>
          <a:xfrm>
            <a:off x="1371600" y="516636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E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funciones sueltas a clases y objetos que colaboran entre sí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CLASE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ver hoy?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5" name="Image 0" descr="/tmp/damaspptx/icons/exclamation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1953890"/>
            <a:ext cx="408188" cy="4081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470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ya conocemos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1762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las funciones sueltas se quedan cortas al crecer el proyecto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715768"/>
            <a:ext cx="566928" cy="566928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9" name="Image 1" descr="/tmp/damaspptx/icons/cub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50" y="2795138"/>
            <a:ext cx="408188" cy="4081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6883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vs. objeto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0175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molde y lo que se construye con él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557016"/>
            <a:ext cx="566928" cy="566928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13" name="Image 2" descr="/tmp/damaspptx/icons/layergro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50" y="3636386"/>
            <a:ext cx="408188" cy="4081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295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4 pilares de la POO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3858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Encapsulamiento, abstracción, herencia y polimorfismo, con ejemplos del juego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398264"/>
            <a:ext cx="566928" cy="566928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17" name="Image 3" descr="/tmp/damaspptx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50" y="4477634"/>
            <a:ext cx="408188" cy="4081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370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código real del proyecto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470001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Dama, Tablero y Juego, línea por línea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239512"/>
            <a:ext cx="566928" cy="566928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21" name="Image 4" descr="/tmp/damaspptx/icons/balancesca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50" y="5318882"/>
            <a:ext cx="408188" cy="4081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5212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y después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417320" y="554126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la versión con funciones y la versión con objetos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ya conocemos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3D8"/>
            </a:solidFill>
            <a:prstDash val="solid"/>
          </a:ln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funciones sueltas...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viaja como parámetro por casi todas las funciones: mover(tablero, ...), movimiento_valido(tablero, ..., turno)...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ficha es solo un número (1, 2, 3, 4) dentro de una lista: nada explica qué significa cada valor.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una regla nueva obliga a tocar varios lugares del código a la vez.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1624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75688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mover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tablero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91072" y="2459736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91072" y="284378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91072" y="32278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movimiento_valido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tablero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91072" y="361188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91072" y="3995928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91072" y="4379976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91072" y="476402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contar_fichas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tablero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91072" y="514807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vs. objeto: el molde y lo construido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3E3D8"/>
            </a:solidFill>
            <a:prstDash val="solid"/>
          </a:ln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21408"/>
            <a:ext cx="548640" cy="548640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6" name="Image 0" descr="/tmp/damaspptx/icons/drafting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2192731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67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Clase: el molde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724912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Dama, Tablero, Jugador y Juego son los planos que escribimos una sola vez: describen qué atributos y qué métodos va a tener cualquier objeto construido a partir de ellos.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468112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3E3D8"/>
            </a:solidFill>
            <a:prstDash val="solid"/>
          </a:ln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21408"/>
            <a:ext cx="548640" cy="548640"/>
          </a:xfrm>
          <a:prstGeom prst="ellipse">
            <a:avLst/>
          </a:prstGeom>
          <a:solidFill>
            <a:srgbClr val="769656"/>
          </a:solidFill>
          <a:ln/>
        </p:spPr>
      </p:sp>
      <p:pic>
        <p:nvPicPr>
          <p:cNvPr id="11" name="Image 1" descr="/tmp/damaspptx/icons/cub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2192731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671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Objeto: lo construido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355080" y="2724912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ficha que aparece en el tablero es un objeto distinto: tiene su propio color y su propia posición, aunque todas salgan del mismo molde Ficha.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clase (Ficha), dos objetos con estado propio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75488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1624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04672" y="495604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ficha_ejemplo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50" dirty="0">
                <a:solidFill>
                  <a:srgbClr val="9FD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"blanco"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804672" y="523036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otra_ficha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50" dirty="0">
                <a:solidFill>
                  <a:srgbClr val="9FD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"negro"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804672" y="550468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804672" y="577900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ficha_ejemplo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350" i="1" dirty="0">
                <a:solidFill>
                  <a:srgbClr val="7C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'blanco'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804672" y="605332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otra_ficha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350" i="1" dirty="0">
                <a:solidFill>
                  <a:srgbClr val="7C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'negro'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 LA POO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4 pilares, aplicados a Damas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3D8"/>
            </a:solidFill>
            <a:prstDash val="solid"/>
          </a:ln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21792" cy="621792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6" name="Image 0" descr="/tmp/damaspptx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93" y="2229673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671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Encapsulamiento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8072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esconde su matriz interna (_casillas) detrás de métodos públicos.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7452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3D8"/>
            </a:solidFill>
            <a:prstDash val="solid"/>
          </a:ln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48840"/>
            <a:ext cx="621792" cy="621792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11" name="Image 1" descr="/tmp/damaspptx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505" y="2229673"/>
            <a:ext cx="460126" cy="4601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21671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Abstracción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8072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usa el tablero sin saber cómo está resuelto por dentro.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3D8"/>
            </a:solidFill>
            <a:prstDash val="solid"/>
          </a:ln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621792" cy="621792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16" name="Image 2" descr="/tmp/damaspptx/icons/code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93" y="4332793"/>
            <a:ext cx="460126" cy="4601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702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Herencia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960" y="491032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 hereda todo de Ficha y solo cambia lo que necesita.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45352" y="39776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3D8"/>
            </a:solidFill>
            <a:prstDash val="solid"/>
          </a:ln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4251960"/>
            <a:ext cx="621792" cy="621792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21" name="Image 3" descr="/tmp/damaspptx/icons/rando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505" y="4332793"/>
            <a:ext cx="460126" cy="4601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2632" y="42702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Polimorfismo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519672" y="491032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y Dama responden distinto al mismo método, sin que nadie pregunte cuál es cuál.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3" name="Image 0" descr="/tmp/damaspptx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7662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86384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Encapsulamiento — Tablero esconde su estado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del tablero vive en self._casillas, un atributo interno.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guion bajo es una convención: "esto es un detalle interno, no lo toques desde afuera".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 del programa nunca escribe directamente sobre _casillas: solo puede pedirle cosas al tablero a través de sus métodos públicos.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0" y="1965960"/>
            <a:ext cx="5577840" cy="3931920"/>
          </a:xfrm>
          <a:prstGeom prst="roundRect">
            <a:avLst>
              <a:gd name="adj" fmla="val 1860"/>
            </a:avLst>
          </a:prstGeom>
          <a:solidFill>
            <a:srgbClr val="1624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91072" y="2167128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Tablero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91072" y="2551176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91072" y="293522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_casillas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91072" y="331927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91072" y="370332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obtener_ficha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91072" y="4087368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_casillas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91072" y="4471416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91072" y="485546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mover_ficha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destino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91072" y="523951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3" name="Image 0" descr="/tmp/damaspptx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7662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86384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Abstracción — usar sin saber cómo funciona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llama self.tablero.mover_ficha(origen, destino) y listo.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 saber que, por dentro, hay una lista de listas.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mañana cambia la representación interna del tablero, el código de Juego no se entera ni hay que tocarlo.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0" y="1965960"/>
            <a:ext cx="5577840" cy="3931920"/>
          </a:xfrm>
          <a:prstGeom prst="roundRect">
            <a:avLst>
              <a:gd name="adj" fmla="val 1860"/>
            </a:avLst>
          </a:prstGeom>
          <a:solidFill>
            <a:srgbClr val="1624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91072" y="2167128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Juego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30" dirty="0"/>
          </a:p>
        </p:txBody>
      </p:sp>
      <p:sp>
        <p:nvSpPr>
          <p:cNvPr id="9" name="Text 6"/>
          <p:cNvSpPr/>
          <p:nvPr/>
        </p:nvSpPr>
        <p:spPr>
          <a:xfrm>
            <a:off x="6291072" y="2551176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3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jugar_turno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3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destino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30" dirty="0"/>
          </a:p>
        </p:txBody>
      </p:sp>
      <p:sp>
        <p:nvSpPr>
          <p:cNvPr id="10" name="Text 7"/>
          <p:cNvSpPr/>
          <p:nvPr/>
        </p:nvSpPr>
        <p:spPr>
          <a:xfrm>
            <a:off x="6291072" y="293522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3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3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movimiento_captura_valido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6291072" y="331927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destino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6291072" y="370332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23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ejecutar_captura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destino</a:t>
            </a:r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6291072" y="4087368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6291072" y="4471416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30" i="1" dirty="0">
                <a:solidFill>
                  <a:srgbClr val="7C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Juego solo PIDE, nunca mete la mano</a:t>
            </a:r>
            <a:endParaRPr lang="en-US" sz="1230" dirty="0"/>
          </a:p>
        </p:txBody>
      </p:sp>
      <p:sp>
        <p:nvSpPr>
          <p:cNvPr id="15" name="Text 12"/>
          <p:cNvSpPr/>
          <p:nvPr/>
        </p:nvSpPr>
        <p:spPr>
          <a:xfrm>
            <a:off x="6291072" y="485546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30" i="1" dirty="0">
                <a:solidFill>
                  <a:srgbClr val="7C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dentro de self.tablero._casillas</a:t>
            </a:r>
            <a:endParaRPr lang="en-US" sz="123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3" name="Image 0" descr="/tmp/damaspptx/icons/code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7662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86384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Herencia — una Dama es una Ficha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EEEED2"/>
          </a:solidFill>
          <a:ln w="19050">
            <a:solidFill>
              <a:srgbClr val="76965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57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880360" y="2359152"/>
            <a:ext cx="594360" cy="320040"/>
          </a:xfrm>
          <a:prstGeom prst="rightArrow">
            <a:avLst/>
          </a:prstGeom>
          <a:solidFill>
            <a:srgbClr val="D4AF37"/>
          </a:solidFill>
          <a:ln/>
        </p:spPr>
      </p:sp>
      <p:sp>
        <p:nvSpPr>
          <p:cNvPr id="9" name="Shape 6"/>
          <p:cNvSpPr/>
          <p:nvPr/>
        </p:nvSpPr>
        <p:spPr>
          <a:xfrm>
            <a:off x="3611880" y="1920240"/>
            <a:ext cx="2103120" cy="1188720"/>
          </a:xfrm>
          <a:prstGeom prst="roundRect">
            <a:avLst>
              <a:gd name="adj" fmla="val 6923"/>
            </a:avLst>
          </a:prstGeom>
          <a:solidFill>
            <a:srgbClr val="1E3A24"/>
          </a:solidFill>
          <a:ln/>
        </p:spPr>
      </p:sp>
      <p:sp>
        <p:nvSpPr>
          <p:cNvPr id="10" name="Text 7"/>
          <p:cNvSpPr/>
          <p:nvPr/>
        </p:nvSpPr>
        <p:spPr>
          <a:xfrm>
            <a:off x="3611880" y="1920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" y="31546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"hereda todo, y sobrescribe solo lo que cambia"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794760"/>
            <a:ext cx="5349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Dama(Ficha): ya trae gratis __init__, moverse_a, color, fila, columna.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redefine direccion_valida (se mueve en ambas direcciones) y __str__ (símbolo distinto).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"es-un": donde se espera una Ficha, también sirve una Dama.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19659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624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19672" y="2167128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19672" y="2551176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direccion_valida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dif_fila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519672" y="2935224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19672" y="3319272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19672" y="3703320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__str__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19672" y="4087368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9FD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'O'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9FD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'blanco'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19672" y="4471416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9FD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3" name="Image 0" descr="/tmp/damaspptx/icons/rand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7662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86384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Polimorfismo — mismo método, otra respuesta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1624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" y="2167128"/>
            <a:ext cx="1057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C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Juego NUNCA pregunta si es Ficha o Dama: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459736"/>
            <a:ext cx="1057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direccion_valida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diferencia_fila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2752344"/>
            <a:ext cx="1057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429000"/>
            <a:ext cx="534924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3E3D8"/>
            </a:solidFill>
            <a:prstDash val="solid"/>
          </a:ln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normal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4023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direccion_valida(-1)  →  True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direccion_valida(1)   →  False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4937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puede avanzar en una dirección.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3429000"/>
            <a:ext cx="5468112" cy="2560320"/>
          </a:xfrm>
          <a:prstGeom prst="roundRect">
            <a:avLst>
              <a:gd name="adj" fmla="val 3214"/>
            </a:avLst>
          </a:prstGeom>
          <a:solidFill>
            <a:srgbClr val="1E3A24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92240" y="4023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direccion_valida(-1)  →  True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direccion_valida(1)   →  True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EE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mueve en ambas direcciones: misma llamada, otra respuesta.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clases del proyecto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EEEED2"/>
          </a:solidFill>
          <a:ln/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fila, columna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moverse_a(), __str__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1E3A24"/>
          </a:solidFill>
          <a:ln/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4087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 de Ficha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sobrescribe 2 métodos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3474720"/>
            <a:ext cx="0" cy="50292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82880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274320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769656"/>
          </a:solidFill>
          <a:ln/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6052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51960" y="3246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_casillas (privado)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obtener_ficha(), mover_ficha()...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0520" y="4617720"/>
            <a:ext cx="2377440" cy="1097280"/>
          </a:xfrm>
          <a:prstGeom prst="roundRect">
            <a:avLst>
              <a:gd name="adj" fmla="val 7500"/>
            </a:avLst>
          </a:prstGeom>
          <a:solidFill>
            <a:srgbClr val="EEEED2"/>
          </a:solidFill>
          <a:ln/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60520" y="4727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Jugador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51960" y="5120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color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18120" y="2103120"/>
            <a:ext cx="3840480" cy="3611880"/>
          </a:xfrm>
          <a:prstGeom prst="roundRect">
            <a:avLst>
              <a:gd name="adj" fmla="val 2278"/>
            </a:avLst>
          </a:prstGeom>
          <a:solidFill>
            <a:srgbClr val="1E3A24"/>
          </a:solidFill>
          <a:ln/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18120" y="2212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09560" y="2606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turno_actual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movimiento_valido()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movimiento_captura_valido()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jugar_turno()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hay_ganador()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37960" y="3429000"/>
            <a:ext cx="1280160" cy="0"/>
          </a:xfrm>
          <a:prstGeom prst="line">
            <a:avLst/>
          </a:prstGeom>
          <a:noFill/>
          <a:ln w="22225">
            <a:solidFill>
              <a:srgbClr val="5B6B5E"/>
            </a:solidFill>
            <a:prstDash val="dash"/>
            <a:tailEnd type="oval"/>
          </a:ln>
        </p:spPr>
      </p:sp>
      <p:sp>
        <p:nvSpPr>
          <p:cNvPr id="22" name="Shape 20"/>
          <p:cNvSpPr/>
          <p:nvPr/>
        </p:nvSpPr>
        <p:spPr>
          <a:xfrm>
            <a:off x="6537960" y="5166360"/>
            <a:ext cx="1280160" cy="0"/>
          </a:xfrm>
          <a:prstGeom prst="line">
            <a:avLst/>
          </a:prstGeom>
          <a:noFill/>
          <a:ln w="22225">
            <a:solidFill>
              <a:srgbClr val="5B6B5E"/>
            </a:solidFill>
            <a:prstDash val="dash"/>
            <a:tailEnd type="oval"/>
          </a:ln>
        </p:spPr>
      </p:sp>
      <p:sp>
        <p:nvSpPr>
          <p:cNvPr id="23" name="Text 21"/>
          <p:cNvSpPr/>
          <p:nvPr/>
        </p:nvSpPr>
        <p:spPr>
          <a:xfrm>
            <a:off x="658368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5257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sólidas con flecha llena = herencia ("es-un")   ·   líneas punteadas = composición ("tiene-un")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RELACIONES DISTINTAS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"Es-un" (herencia) vs. "Tiene-un" (composición)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3D8"/>
            </a:solidFill>
            <a:prstDash val="solid"/>
          </a:ln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548640" cy="548640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6" name="Image 0" descr="/tmp/damaspptx/icons/code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23116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Herencia — "es-un"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 ES UNA Ficha.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24612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cuando un objeto es un caso particular de otro.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subclase reutiliza todo y solo cambia lo necesario.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Dama(Ficha): ...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468112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3D8"/>
            </a:solidFill>
            <a:prstDash val="solid"/>
          </a:ln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240280"/>
            <a:ext cx="548640" cy="548640"/>
          </a:xfrm>
          <a:prstGeom prst="ellipse">
            <a:avLst/>
          </a:prstGeom>
          <a:solidFill>
            <a:srgbClr val="769656"/>
          </a:solidFill>
          <a:ln/>
        </p:spPr>
      </p:sp>
      <p:pic>
        <p:nvPicPr>
          <p:cNvPr id="12" name="Image 1" descr="/tmp/damaspptx/icons/object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231160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286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Composición — "tiene-un"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TIENE UN Tablero y TIENE Jugadores.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92240" y="324612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cuando un objeto simplemente USA a otro como parte de su estado.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"es un tipo de", hay "lo tiene adentro".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self.tablero = Tablero()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3" name="Image 0" descr="/tmp/damaspptx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7662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DEL PROYECTO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86384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clase Ficha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6400800" cy="4023360"/>
          </a:xfrm>
          <a:prstGeom prst="roundRect">
            <a:avLst>
              <a:gd name="adj" fmla="val 1818"/>
            </a:avLst>
          </a:prstGeom>
          <a:solidFill>
            <a:srgbClr val="1624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" y="2167128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551176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2935224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331927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" y="3703320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4087368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4672" y="4471416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moverse_a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4672" y="4855464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4672" y="5239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178040" y="2057400"/>
            <a:ext cx="4480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es el constructor: se ejecuta solo al crear un objeto nuevo.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representa "este objeto en particular".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self.color = color guarda un atributo propio de cada ficha.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3" name="Image 0" descr="/tmp/damaspptx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7662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DEL PROYECTO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86384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clase Dama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6400800" cy="3291840"/>
          </a:xfrm>
          <a:prstGeom prst="roundRect">
            <a:avLst>
              <a:gd name="adj" fmla="val 2222"/>
            </a:avLst>
          </a:prstGeom>
          <a:solidFill>
            <a:srgbClr val="1624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" y="2167128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551176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direccion_valida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diferencia_fila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2935224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331927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" y="3703320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__str__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4087368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FD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'O'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FD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'blanco'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4672" y="4471416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30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FD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178040" y="205740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una línea repetida de Ficha: todo eso ya lo heredó.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aparece lo que realmente cambia para una dama.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lo que hace liviano y mantenible el código con POO.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3" name="Image 0" descr="/tmp/damaspptx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7662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DEL PROYECTO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86384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clase Tablero (encapsulamiento en acción)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4023360"/>
          </a:xfrm>
          <a:prstGeom prst="roundRect">
            <a:avLst>
              <a:gd name="adj" fmla="val 1818"/>
            </a:avLst>
          </a:prstGeom>
          <a:solidFill>
            <a:srgbClr val="1624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" y="216712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Tablero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244144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4672" y="271576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_casillas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4672" y="299008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4672" y="326440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4672" y="353872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obtener_ficha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381304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_casillas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4672" y="408736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436168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mover_ficha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" y="463600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fila_o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491032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fila_d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col_d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destino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4672" y="518464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obtener_ficha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fila_o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" y="545896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colocar_ficha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fila_d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col_d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4672" y="5733288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quitar_ficha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fila_o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col_o</a:t>
            </a:r>
            <a:pPr indent="0" marL="0">
              <a:buNone/>
            </a:pPr>
            <a:r>
              <a:rPr lang="en-US" sz="1250" dirty="0">
                <a:solidFill>
                  <a:srgbClr val="EA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 LA PRÁCTICA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(funciones) y después (objetos)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4087368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2700">
            <a:solidFill>
              <a:srgbClr val="E3E3D8"/>
            </a:solidFill>
            <a:prstDash val="solid"/>
          </a:ln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11091672" cy="502920"/>
          </a:xfrm>
          <a:prstGeom prst="rect">
            <a:avLst/>
          </a:prstGeom>
          <a:solidFill>
            <a:srgbClr val="1E3A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77640" y="1965960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funciones sueltas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91272" y="1965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clases y objetos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523744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una ficha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77640" y="2523744"/>
            <a:ext cx="3593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número (1, 2, 3, 4) dentro del arreglo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91272" y="2523744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objeto Ficha o Dama con atributos propios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11091672" cy="896112"/>
          </a:xfrm>
          <a:prstGeom prst="rect">
            <a:avLst/>
          </a:prstGeom>
          <a:solidFill>
            <a:srgbClr val="F4F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19856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el tablero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77640" y="3419856"/>
            <a:ext cx="3593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 tablero en casi todas las funciones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91272" y="3419856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self.tablero, ya disponible dentro de Juego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315968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ficha normal de dama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977640" y="4315968"/>
            <a:ext cx="3593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ficha in (1, 3) repetido en varios lugares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891272" y="4315968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resuelve su propio comportamiento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57216"/>
            <a:ext cx="11091672" cy="896112"/>
          </a:xfrm>
          <a:prstGeom prst="rect">
            <a:avLst/>
          </a:prstGeom>
          <a:solidFill>
            <a:srgbClr val="F4F6F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21208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una regla nueva para damas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977640" y="5212080"/>
            <a:ext cx="3593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varios if dispersos por el código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91272" y="5212080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un solo método en Dama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ABSTRACCIÓN DA FRUTOS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misma lógica sirve para consola y para ventana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3D8"/>
            </a:solidFill>
            <a:prstDash val="solid"/>
          </a:ln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530352" cy="530352"/>
          </a:xfrm>
          <a:prstGeom prst="ellipse">
            <a:avLst/>
          </a:prstGeom>
          <a:solidFill>
            <a:srgbClr val="1E3A24"/>
          </a:solidFill>
          <a:ln/>
        </p:spPr>
      </p:sp>
      <p:pic>
        <p:nvPicPr>
          <p:cNvPr id="6" name="Image 0" descr="/tmp/damaspptx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626" y="2400666"/>
            <a:ext cx="392460" cy="392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359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Versión de consola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pide origen y destino, y llama a juego.jugar_turno(origen, destino).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210312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3D8"/>
            </a:solidFill>
            <a:prstDash val="solid"/>
          </a:ln>
          <a:effectLst>
            <a:outerShdw sx="100000" sy="100000" kx="0" ky="0" algn="bl" rotWithShape="0" blurRad="127000" dist="38100" dir="5400000">
              <a:srgbClr val="4A5A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331720"/>
            <a:ext cx="530352" cy="530352"/>
          </a:xfrm>
          <a:prstGeom prst="ellipse">
            <a:avLst/>
          </a:prstGeom>
          <a:solidFill>
            <a:srgbClr val="769656"/>
          </a:solidFill>
          <a:ln/>
        </p:spPr>
      </p:sp>
      <p:pic>
        <p:nvPicPr>
          <p:cNvPr id="11" name="Image 1" descr="/tmp/damaspptx/icons/windowmaxim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186" y="2400666"/>
            <a:ext cx="392460" cy="392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3591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Versión con ventana (Tkinter)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92240" y="2971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o un arrastre calculan origen y destino, y llaman al MISMO juego.jugar_turno(origen, destino).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11091672" cy="1600200"/>
          </a:xfrm>
          <a:prstGeom prst="roundRect">
            <a:avLst>
              <a:gd name="adj" fmla="val 5143"/>
            </a:avLst>
          </a:prstGeom>
          <a:solidFill>
            <a:srgbClr val="1E3A24"/>
          </a:solidFill>
          <a:ln/>
        </p:spPr>
      </p:sp>
      <p:sp>
        <p:nvSpPr>
          <p:cNvPr id="15" name="Text 11"/>
          <p:cNvSpPr/>
          <p:nvPr/>
        </p:nvSpPr>
        <p:spPr>
          <a:xfrm>
            <a:off x="914400" y="4434840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 una sola regla del juego se reescribió al agregar la interfaz gráfica: eso es exactamente lo que permite la abstracción.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LLEVARSE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clave de esta clase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5" name="Image 0" descr="/tmp/damaspptx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1980590"/>
            <a:ext cx="382219" cy="382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0195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es un molde; un objeto es lo que se construye con ese molde.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8" name="Image 1" descr="/tmp/damaspptx/icons/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" y="2849270"/>
            <a:ext cx="382219" cy="3822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77063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Encapsular significa esconder el estado interno detrás de métodos públicos.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1" name="Image 2" descr="/tmp/damaspptx/icons/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" y="3717950"/>
            <a:ext cx="382219" cy="3822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63931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herencia evita repetir código cuando un objeto "es un caso particular" de otro.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4" name="Image 3" descr="/tmp/damaspptx/icons/light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" y="4586630"/>
            <a:ext cx="382219" cy="3822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50799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polimorfismo permite llamar al mismo método sin preguntar de qué tipo es el objeto.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7" name="Image 4" descr="/tmp/damaspptx/icons/light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" y="5455310"/>
            <a:ext cx="382219" cy="3822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537667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bien las clases (una responsabilidad por clase) hace que el proyecto crezca sin romperse.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la práctica · Proyecto de Damas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50292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3" name="Shape 1"/>
          <p:cNvSpPr/>
          <p:nvPr/>
        </p:nvSpPr>
        <p:spPr>
          <a:xfrm>
            <a:off x="9921240" y="50292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50292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5" name="Shape 3"/>
          <p:cNvSpPr/>
          <p:nvPr/>
        </p:nvSpPr>
        <p:spPr>
          <a:xfrm>
            <a:off x="10469880" y="50292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0292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7" name="Shape 5"/>
          <p:cNvSpPr/>
          <p:nvPr/>
        </p:nvSpPr>
        <p:spPr>
          <a:xfrm>
            <a:off x="11018520" y="50292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8" name="Shape 6"/>
          <p:cNvSpPr/>
          <p:nvPr/>
        </p:nvSpPr>
        <p:spPr>
          <a:xfrm>
            <a:off x="11292840" y="50292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9" name="Shape 7"/>
          <p:cNvSpPr/>
          <p:nvPr/>
        </p:nvSpPr>
        <p:spPr>
          <a:xfrm>
            <a:off x="11567160" y="50292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10" name="Shape 8"/>
          <p:cNvSpPr/>
          <p:nvPr/>
        </p:nvSpPr>
        <p:spPr>
          <a:xfrm>
            <a:off x="9646920" y="77724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11" name="Shape 9"/>
          <p:cNvSpPr/>
          <p:nvPr/>
        </p:nvSpPr>
        <p:spPr>
          <a:xfrm>
            <a:off x="9921240" y="77724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5560" y="77724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69880" y="77724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44200" y="77724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18520" y="77724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77724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67160" y="77724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18" name="Shape 16"/>
          <p:cNvSpPr/>
          <p:nvPr/>
        </p:nvSpPr>
        <p:spPr>
          <a:xfrm>
            <a:off x="9646920" y="105156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19" name="Shape 17"/>
          <p:cNvSpPr/>
          <p:nvPr/>
        </p:nvSpPr>
        <p:spPr>
          <a:xfrm>
            <a:off x="9921240" y="105156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95560" y="105156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69880" y="105156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44200" y="105156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18520" y="105156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92840" y="105156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25" name="Shape 23"/>
          <p:cNvSpPr/>
          <p:nvPr/>
        </p:nvSpPr>
        <p:spPr>
          <a:xfrm>
            <a:off x="11567160" y="105156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26" name="Shape 24"/>
          <p:cNvSpPr/>
          <p:nvPr/>
        </p:nvSpPr>
        <p:spPr>
          <a:xfrm>
            <a:off x="9646920" y="132588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27" name="Shape 25"/>
          <p:cNvSpPr/>
          <p:nvPr/>
        </p:nvSpPr>
        <p:spPr>
          <a:xfrm>
            <a:off x="9921240" y="132588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95560" y="132588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69880" y="132588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44200" y="132588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31" name="Shape 29"/>
          <p:cNvSpPr/>
          <p:nvPr/>
        </p:nvSpPr>
        <p:spPr>
          <a:xfrm>
            <a:off x="11018520" y="132588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32" name="Shape 30"/>
          <p:cNvSpPr/>
          <p:nvPr/>
        </p:nvSpPr>
        <p:spPr>
          <a:xfrm>
            <a:off x="11292840" y="132588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33" name="Shape 31"/>
          <p:cNvSpPr/>
          <p:nvPr/>
        </p:nvSpPr>
        <p:spPr>
          <a:xfrm>
            <a:off x="11567160" y="132588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34" name="Shape 32"/>
          <p:cNvSpPr/>
          <p:nvPr/>
        </p:nvSpPr>
        <p:spPr>
          <a:xfrm>
            <a:off x="9646920" y="160020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35" name="Shape 33"/>
          <p:cNvSpPr/>
          <p:nvPr/>
        </p:nvSpPr>
        <p:spPr>
          <a:xfrm>
            <a:off x="9921240" y="160020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95560" y="160020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69880" y="160020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44200" y="160020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39" name="Shape 37"/>
          <p:cNvSpPr/>
          <p:nvPr/>
        </p:nvSpPr>
        <p:spPr>
          <a:xfrm>
            <a:off x="11018520" y="160020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40" name="Shape 38"/>
          <p:cNvSpPr/>
          <p:nvPr/>
        </p:nvSpPr>
        <p:spPr>
          <a:xfrm>
            <a:off x="11292840" y="160020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41" name="Shape 39"/>
          <p:cNvSpPr/>
          <p:nvPr/>
        </p:nvSpPr>
        <p:spPr>
          <a:xfrm>
            <a:off x="11567160" y="160020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42" name="Shape 40"/>
          <p:cNvSpPr/>
          <p:nvPr/>
        </p:nvSpPr>
        <p:spPr>
          <a:xfrm>
            <a:off x="9646920" y="187452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43" name="Shape 41"/>
          <p:cNvSpPr/>
          <p:nvPr/>
        </p:nvSpPr>
        <p:spPr>
          <a:xfrm>
            <a:off x="9921240" y="187452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95560" y="187452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45" name="Shape 43"/>
          <p:cNvSpPr/>
          <p:nvPr/>
        </p:nvSpPr>
        <p:spPr>
          <a:xfrm>
            <a:off x="10469880" y="187452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46" name="Shape 44"/>
          <p:cNvSpPr/>
          <p:nvPr/>
        </p:nvSpPr>
        <p:spPr>
          <a:xfrm>
            <a:off x="10744200" y="187452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47" name="Shape 4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48" name="Shape 46"/>
          <p:cNvSpPr/>
          <p:nvPr/>
        </p:nvSpPr>
        <p:spPr>
          <a:xfrm>
            <a:off x="11292840" y="187452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49" name="Shape 47"/>
          <p:cNvSpPr/>
          <p:nvPr/>
        </p:nvSpPr>
        <p:spPr>
          <a:xfrm>
            <a:off x="11567160" y="187452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50" name="Shape 48"/>
          <p:cNvSpPr/>
          <p:nvPr/>
        </p:nvSpPr>
        <p:spPr>
          <a:xfrm>
            <a:off x="9646920" y="214884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51" name="Shape 49"/>
          <p:cNvSpPr/>
          <p:nvPr/>
        </p:nvSpPr>
        <p:spPr>
          <a:xfrm>
            <a:off x="9921240" y="214884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95560" y="214884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53" name="Shape 51"/>
          <p:cNvSpPr/>
          <p:nvPr/>
        </p:nvSpPr>
        <p:spPr>
          <a:xfrm>
            <a:off x="10469880" y="214884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54" name="Shape 52"/>
          <p:cNvSpPr/>
          <p:nvPr/>
        </p:nvSpPr>
        <p:spPr>
          <a:xfrm>
            <a:off x="10744200" y="214884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55" name="Shape 53"/>
          <p:cNvSpPr/>
          <p:nvPr/>
        </p:nvSpPr>
        <p:spPr>
          <a:xfrm>
            <a:off x="11018520" y="214884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56" name="Shape 54"/>
          <p:cNvSpPr/>
          <p:nvPr/>
        </p:nvSpPr>
        <p:spPr>
          <a:xfrm>
            <a:off x="11292840" y="214884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67160" y="214884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58" name="Shape 56"/>
          <p:cNvSpPr/>
          <p:nvPr/>
        </p:nvSpPr>
        <p:spPr>
          <a:xfrm>
            <a:off x="9646920" y="242316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59" name="Shape 57"/>
          <p:cNvSpPr/>
          <p:nvPr/>
        </p:nvSpPr>
        <p:spPr>
          <a:xfrm>
            <a:off x="9921240" y="242316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60" name="Shape 58"/>
          <p:cNvSpPr/>
          <p:nvPr/>
        </p:nvSpPr>
        <p:spPr>
          <a:xfrm>
            <a:off x="10195560" y="242316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61" name="Shape 59"/>
          <p:cNvSpPr/>
          <p:nvPr/>
        </p:nvSpPr>
        <p:spPr>
          <a:xfrm>
            <a:off x="10469880" y="242316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62" name="Shape 60"/>
          <p:cNvSpPr/>
          <p:nvPr/>
        </p:nvSpPr>
        <p:spPr>
          <a:xfrm>
            <a:off x="10744200" y="242316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63" name="Shape 61"/>
          <p:cNvSpPr/>
          <p:nvPr/>
        </p:nvSpPr>
        <p:spPr>
          <a:xfrm>
            <a:off x="11018520" y="242316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64" name="Shape 62"/>
          <p:cNvSpPr/>
          <p:nvPr/>
        </p:nvSpPr>
        <p:spPr>
          <a:xfrm>
            <a:off x="11292840" y="2423160"/>
            <a:ext cx="274320" cy="274320"/>
          </a:xfrm>
          <a:prstGeom prst="rect">
            <a:avLst/>
          </a:prstGeom>
          <a:solidFill>
            <a:srgbClr val="769656"/>
          </a:solidFill>
          <a:ln/>
        </p:spPr>
      </p:sp>
      <p:sp>
        <p:nvSpPr>
          <p:cNvPr id="65" name="Shape 63"/>
          <p:cNvSpPr/>
          <p:nvPr/>
        </p:nvSpPr>
        <p:spPr>
          <a:xfrm>
            <a:off x="11567160" y="2423160"/>
            <a:ext cx="274320" cy="274320"/>
          </a:xfrm>
          <a:prstGeom prst="rect">
            <a:avLst/>
          </a:prstGeom>
          <a:solidFill>
            <a:srgbClr val="EEEED2"/>
          </a:solidFill>
          <a:ln/>
        </p:spPr>
      </p:sp>
      <p:sp>
        <p:nvSpPr>
          <p:cNvPr id="66" name="Shape 64"/>
          <p:cNvSpPr/>
          <p:nvPr/>
        </p:nvSpPr>
        <p:spPr>
          <a:xfrm>
            <a:off x="9965131" y="821131"/>
            <a:ext cx="186538" cy="18653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239451" y="1095451"/>
            <a:ext cx="186538" cy="186538"/>
          </a:xfrm>
          <a:prstGeom prst="ellipse">
            <a:avLst/>
          </a:prstGeom>
          <a:solidFill>
            <a:srgbClr val="11111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90811" y="546811"/>
            <a:ext cx="186538" cy="186538"/>
          </a:xfrm>
          <a:prstGeom prst="ellipse">
            <a:avLst/>
          </a:prstGeom>
          <a:solidFill>
            <a:srgbClr val="D4AF3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58384" y="1417320"/>
            <a:ext cx="1463040" cy="1463040"/>
          </a:xfrm>
          <a:prstGeom prst="ellipse">
            <a:avLst/>
          </a:prstGeom>
          <a:solidFill>
            <a:srgbClr val="2A4A31"/>
          </a:solidFill>
          <a:ln/>
        </p:spPr>
      </p:sp>
      <p:pic>
        <p:nvPicPr>
          <p:cNvPr id="70" name="Image 0" descr="/tmp/damaspptx/icons/chessbo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9318" y="1578254"/>
            <a:ext cx="1141171" cy="1141171"/>
          </a:xfrm>
          <a:prstGeom prst="rect">
            <a:avLst/>
          </a:prstGeom>
        </p:spPr>
      </p:pic>
      <p:sp>
        <p:nvSpPr>
          <p:cNvPr id="71" name="Text 68"/>
          <p:cNvSpPr/>
          <p:nvPr/>
        </p:nvSpPr>
        <p:spPr>
          <a:xfrm>
            <a:off x="640080" y="3108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000" dirty="0"/>
          </a:p>
        </p:txBody>
      </p:sp>
      <p:sp>
        <p:nvSpPr>
          <p:cNvPr id="72" name="Text 69"/>
          <p:cNvSpPr/>
          <p:nvPr/>
        </p:nvSpPr>
        <p:spPr>
          <a:xfrm>
            <a:off x="640080" y="3977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EE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 sobre la lógica, las clases o el código del proyecto?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69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Programación I  ·  Jornada Nocturna  ·  Proyecto de Damas en Python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2026-07-22T03:47:13Z</dcterms:created>
  <dcterms:modified xsi:type="dcterms:W3CDTF">2026-07-22T03:47:13Z</dcterms:modified>
</cp:coreProperties>
</file>